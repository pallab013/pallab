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9" r:id="rId3"/>
    <p:sldId id="284" r:id="rId4"/>
    <p:sldId id="260" r:id="rId5"/>
    <p:sldId id="261" r:id="rId6"/>
    <p:sldId id="262" r:id="rId7"/>
    <p:sldId id="263" r:id="rId8"/>
    <p:sldId id="264" r:id="rId9"/>
    <p:sldId id="276" r:id="rId10"/>
    <p:sldId id="265" r:id="rId11"/>
    <p:sldId id="266" r:id="rId12"/>
    <p:sldId id="277" r:id="rId13"/>
    <p:sldId id="267" r:id="rId14"/>
    <p:sldId id="268" r:id="rId15"/>
    <p:sldId id="278" r:id="rId16"/>
    <p:sldId id="281" r:id="rId17"/>
    <p:sldId id="269" r:id="rId18"/>
    <p:sldId id="279" r:id="rId19"/>
    <p:sldId id="280" r:id="rId20"/>
    <p:sldId id="282" r:id="rId21"/>
    <p:sldId id="283" r:id="rId22"/>
    <p:sldId id="270" r:id="rId23"/>
    <p:sldId id="271" r:id="rId24"/>
    <p:sldId id="272"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4660"/>
  </p:normalViewPr>
  <p:slideViewPr>
    <p:cSldViewPr snapToGrid="0">
      <p:cViewPr varScale="1">
        <p:scale>
          <a:sx n="92" d="100"/>
          <a:sy n="92" d="100"/>
        </p:scale>
        <p:origin x="1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4C1FFDF-DF5C-4322-8E0C-8AE20CC25D56}"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600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C1FFDF-DF5C-4322-8E0C-8AE20CC25D56}"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7294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C1FFDF-DF5C-4322-8E0C-8AE20CC25D56}"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904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C1FFDF-DF5C-4322-8E0C-8AE20CC25D56}"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5535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4C1FFDF-DF5C-4322-8E0C-8AE20CC25D56}"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33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4C1FFDF-DF5C-4322-8E0C-8AE20CC25D56}"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3615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4C1FFDF-DF5C-4322-8E0C-8AE20CC25D56}" type="slidenum">
              <a:rPr lang="en-US" smtClean="0"/>
              <a:t>‹#›</a:t>
            </a:fld>
            <a:endParaRPr lang="en-US" dirty="0"/>
          </a:p>
        </p:txBody>
      </p:sp>
    </p:spTree>
    <p:extLst>
      <p:ext uri="{BB962C8B-B14F-4D97-AF65-F5344CB8AC3E}">
        <p14:creationId xmlns:p14="http://schemas.microsoft.com/office/powerpoint/2010/main" val="3307457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C1FFDF-DF5C-4322-8E0C-8AE20CC25D56}"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8117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8092612-D994-4994-A151-E80B693AE802}" type="datetimeFigureOut">
              <a:rPr lang="en-US" smtClean="0"/>
              <a:t>2/2/2026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4C1FFDF-DF5C-4322-8E0C-8AE20CC25D56}"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33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C1FFDF-DF5C-4322-8E0C-8AE20CC25D56}"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0082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92612-D994-4994-A151-E80B693AE802}" type="datetimeFigureOut">
              <a:rPr lang="en-US" smtClean="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4C1FFDF-DF5C-4322-8E0C-8AE20CC25D56}"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430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8092612-D994-4994-A151-E80B693AE802}" type="datetimeFigureOut">
              <a:rPr lang="en-US" smtClean="0"/>
              <a:t>2/2/2026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4C1FFDF-DF5C-4322-8E0C-8AE20CC25D56}" type="slidenum">
              <a:rPr lang="en-US" smtClean="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52525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6EA4-A6AB-BB18-89C1-A81747ADCD7E}"/>
              </a:ext>
            </a:extLst>
          </p:cNvPr>
          <p:cNvSpPr>
            <a:spLocks noGrp="1"/>
          </p:cNvSpPr>
          <p:nvPr>
            <p:ph type="ctrTitle"/>
          </p:nvPr>
        </p:nvSpPr>
        <p:spPr>
          <a:xfrm>
            <a:off x="347910" y="1303738"/>
            <a:ext cx="8637073" cy="977621"/>
          </a:xfrm>
        </p:spPr>
        <p:txBody>
          <a:bodyPr/>
          <a:lstStyle/>
          <a:p>
            <a:r>
              <a:rPr lang="en-US" b="1" i="1" dirty="0">
                <a:solidFill>
                  <a:schemeClr val="accent2">
                    <a:lumMod val="75000"/>
                  </a:schemeClr>
                </a:solidFill>
              </a:rPr>
              <a:t>Welcome </a:t>
            </a:r>
          </a:p>
        </p:txBody>
      </p:sp>
      <p:sp>
        <p:nvSpPr>
          <p:cNvPr id="3" name="Subtitle 2">
            <a:extLst>
              <a:ext uri="{FF2B5EF4-FFF2-40B4-BE49-F238E27FC236}">
                <a16:creationId xmlns:a16="http://schemas.microsoft.com/office/drawing/2014/main" id="{993A8693-147E-29BE-6D7A-90EC7D61BCB5}"/>
              </a:ext>
            </a:extLst>
          </p:cNvPr>
          <p:cNvSpPr>
            <a:spLocks noGrp="1"/>
          </p:cNvSpPr>
          <p:nvPr>
            <p:ph type="subTitle" idx="1"/>
          </p:nvPr>
        </p:nvSpPr>
        <p:spPr>
          <a:xfrm>
            <a:off x="1960344" y="2366369"/>
            <a:ext cx="8637072" cy="977621"/>
          </a:xfrm>
        </p:spPr>
        <p:txBody>
          <a:bodyPr>
            <a:normAutofit/>
          </a:bodyPr>
          <a:lstStyle/>
          <a:p>
            <a:r>
              <a:rPr lang="en-US" dirty="0"/>
              <a:t>To our presentation on advance programming </a:t>
            </a:r>
          </a:p>
        </p:txBody>
      </p:sp>
      <p:sp>
        <p:nvSpPr>
          <p:cNvPr id="4" name="Title 1">
            <a:extLst>
              <a:ext uri="{FF2B5EF4-FFF2-40B4-BE49-F238E27FC236}">
                <a16:creationId xmlns:a16="http://schemas.microsoft.com/office/drawing/2014/main" id="{BA4A234A-107F-261B-A8B9-95C192423F81}"/>
              </a:ext>
            </a:extLst>
          </p:cNvPr>
          <p:cNvSpPr txBox="1">
            <a:spLocks/>
          </p:cNvSpPr>
          <p:nvPr/>
        </p:nvSpPr>
        <p:spPr>
          <a:xfrm>
            <a:off x="1502910" y="3429000"/>
            <a:ext cx="10515600" cy="1325563"/>
          </a:xfrm>
          <a:prstGeom prst="rect">
            <a:avLst/>
          </a:prstGeom>
        </p:spPr>
        <p:txBody>
          <a:bodyPr vert="horz" lIns="91440" tIns="45720" rIns="91440" bIns="0" rtlCol="0" anchor="b">
            <a:normAutofit fontScale="62500" lnSpcReduction="20000"/>
          </a:bodyPr>
          <a:lstStyle>
            <a:lvl1pPr algn="l" defTabSz="914400" rtl="0" eaLnBrk="1" latinLnBrk="0" hangingPunct="1">
              <a:lnSpc>
                <a:spcPct val="90000"/>
              </a:lnSpc>
              <a:spcBef>
                <a:spcPct val="0"/>
              </a:spcBef>
              <a:buNone/>
              <a:defRPr sz="6600" b="0" i="0" kern="1200" cap="all">
                <a:solidFill>
                  <a:schemeClr val="tx1"/>
                </a:solidFill>
                <a:effectLst/>
                <a:latin typeface="+mj-lt"/>
                <a:ea typeface="+mj-ea"/>
                <a:cs typeface="+mj-cs"/>
              </a:defRPr>
            </a:lvl1pPr>
          </a:lstStyle>
          <a:p>
            <a:r>
              <a:rPr lang="en-US" i="1" dirty="0"/>
              <a:t>Automobile Data Analysis using Python</a:t>
            </a:r>
            <a:br>
              <a:rPr lang="en-US" dirty="0"/>
            </a:br>
            <a:endParaRPr lang="en-US" dirty="0"/>
          </a:p>
        </p:txBody>
      </p:sp>
      <p:sp>
        <p:nvSpPr>
          <p:cNvPr id="5" name="Content Placeholder 2">
            <a:extLst>
              <a:ext uri="{FF2B5EF4-FFF2-40B4-BE49-F238E27FC236}">
                <a16:creationId xmlns:a16="http://schemas.microsoft.com/office/drawing/2014/main" id="{48E5D823-58C0-A2D8-5917-92282BE6A404}"/>
              </a:ext>
            </a:extLst>
          </p:cNvPr>
          <p:cNvSpPr txBox="1">
            <a:spLocks/>
          </p:cNvSpPr>
          <p:nvPr/>
        </p:nvSpPr>
        <p:spPr>
          <a:xfrm>
            <a:off x="2269603" y="4319775"/>
            <a:ext cx="8144933" cy="900641"/>
          </a:xfrm>
          <a:prstGeom prst="rect">
            <a:avLst/>
          </a:prstGeom>
        </p:spPr>
        <p:txBody>
          <a:bodyPr vert="horz" lIns="91440" tIns="91440" rIns="91440" bIns="91440" rtlCol="0">
            <a:normAutofit fontScale="40000" lnSpcReduction="20000"/>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cap="all" baseline="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r>
              <a:rPr lang="en-US" sz="5800" i="1" dirty="0"/>
              <a:t>A Data-Driven Insight into Car Performance &amp; Pricing</a:t>
            </a:r>
          </a:p>
          <a:p>
            <a:br>
              <a:rPr lang="en-US" dirty="0"/>
            </a:br>
            <a:endParaRPr lang="en-US" dirty="0"/>
          </a:p>
        </p:txBody>
      </p:sp>
    </p:spTree>
    <p:extLst>
      <p:ext uri="{BB962C8B-B14F-4D97-AF65-F5344CB8AC3E}">
        <p14:creationId xmlns:p14="http://schemas.microsoft.com/office/powerpoint/2010/main" val="143442007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5FAC-7E13-FB22-4936-003204FB6311}"/>
              </a:ext>
            </a:extLst>
          </p:cNvPr>
          <p:cNvSpPr>
            <a:spLocks noGrp="1"/>
          </p:cNvSpPr>
          <p:nvPr>
            <p:ph type="title"/>
          </p:nvPr>
        </p:nvSpPr>
        <p:spPr/>
        <p:txBody>
          <a:bodyPr>
            <a:normAutofit fontScale="90000"/>
          </a:bodyPr>
          <a:lstStyle/>
          <a:p>
            <a:pPr algn="ctr"/>
            <a:r>
              <a:rPr lang="en-US" sz="6700" b="1" i="1" dirty="0">
                <a:solidFill>
                  <a:srgbClr val="FF0000"/>
                </a:solidFill>
              </a:rPr>
              <a:t>PRESENTED BY</a:t>
            </a:r>
            <a:br>
              <a:rPr lang="en-US" dirty="0"/>
            </a:br>
            <a:endParaRPr lang="en-US" dirty="0"/>
          </a:p>
        </p:txBody>
      </p:sp>
      <p:sp>
        <p:nvSpPr>
          <p:cNvPr id="7" name="TextBox 6">
            <a:extLst>
              <a:ext uri="{FF2B5EF4-FFF2-40B4-BE49-F238E27FC236}">
                <a16:creationId xmlns:a16="http://schemas.microsoft.com/office/drawing/2014/main" id="{5582D1EC-8972-CC80-F78E-56DD1FA98FBB}"/>
              </a:ext>
            </a:extLst>
          </p:cNvPr>
          <p:cNvSpPr txBox="1"/>
          <p:nvPr/>
        </p:nvSpPr>
        <p:spPr>
          <a:xfrm>
            <a:off x="838201" y="2310711"/>
            <a:ext cx="3572933" cy="1231106"/>
          </a:xfrm>
          <a:prstGeom prst="rect">
            <a:avLst/>
          </a:prstGeom>
          <a:noFill/>
        </p:spPr>
        <p:txBody>
          <a:bodyPr wrap="square" rtlCol="0">
            <a:spAutoFit/>
          </a:bodyPr>
          <a:lstStyle/>
          <a:p>
            <a:pPr algn="ctr"/>
            <a:r>
              <a:rPr lang="en-US" dirty="0"/>
              <a:t> </a:t>
            </a:r>
            <a:r>
              <a:rPr lang="en-US" sz="2000" b="1" dirty="0"/>
              <a:t>SANZIDA AKTER SHEMO</a:t>
            </a:r>
          </a:p>
          <a:p>
            <a:pPr algn="ctr"/>
            <a:r>
              <a:rPr lang="en-US" sz="3600" dirty="0"/>
              <a:t> 2304001</a:t>
            </a:r>
          </a:p>
          <a:p>
            <a:endParaRPr lang="en-US" dirty="0"/>
          </a:p>
        </p:txBody>
      </p:sp>
      <p:sp>
        <p:nvSpPr>
          <p:cNvPr id="9" name="TextBox 8">
            <a:extLst>
              <a:ext uri="{FF2B5EF4-FFF2-40B4-BE49-F238E27FC236}">
                <a16:creationId xmlns:a16="http://schemas.microsoft.com/office/drawing/2014/main" id="{252FB064-D57A-623F-B673-85A336F63C62}"/>
              </a:ext>
            </a:extLst>
          </p:cNvPr>
          <p:cNvSpPr txBox="1"/>
          <p:nvPr/>
        </p:nvSpPr>
        <p:spPr>
          <a:xfrm>
            <a:off x="7780868" y="2249155"/>
            <a:ext cx="3699933" cy="1231106"/>
          </a:xfrm>
          <a:prstGeom prst="rect">
            <a:avLst/>
          </a:prstGeom>
          <a:noFill/>
        </p:spPr>
        <p:txBody>
          <a:bodyPr wrap="square" rtlCol="0">
            <a:spAutoFit/>
          </a:bodyPr>
          <a:lstStyle/>
          <a:p>
            <a:pPr algn="ctr"/>
            <a:r>
              <a:rPr lang="en-US" sz="2400" b="1" dirty="0"/>
              <a:t>PALLAB KUMAR DAS</a:t>
            </a:r>
          </a:p>
          <a:p>
            <a:pPr algn="ctr"/>
            <a:r>
              <a:rPr lang="en-US" sz="3200" dirty="0"/>
              <a:t>2304053</a:t>
            </a:r>
          </a:p>
          <a:p>
            <a:endParaRPr lang="en-US" dirty="0"/>
          </a:p>
        </p:txBody>
      </p:sp>
      <p:sp>
        <p:nvSpPr>
          <p:cNvPr id="11" name="TextBox 10">
            <a:extLst>
              <a:ext uri="{FF2B5EF4-FFF2-40B4-BE49-F238E27FC236}">
                <a16:creationId xmlns:a16="http://schemas.microsoft.com/office/drawing/2014/main" id="{FBE54372-CC9C-4B4A-2A24-1E228B6A4CDF}"/>
              </a:ext>
            </a:extLst>
          </p:cNvPr>
          <p:cNvSpPr txBox="1"/>
          <p:nvPr/>
        </p:nvSpPr>
        <p:spPr>
          <a:xfrm>
            <a:off x="3852334" y="4089419"/>
            <a:ext cx="4563533" cy="1354217"/>
          </a:xfrm>
          <a:prstGeom prst="rect">
            <a:avLst/>
          </a:prstGeom>
          <a:noFill/>
        </p:spPr>
        <p:txBody>
          <a:bodyPr wrap="square" rtlCol="0">
            <a:spAutoFit/>
          </a:bodyPr>
          <a:lstStyle/>
          <a:p>
            <a:pPr algn="ctr"/>
            <a:r>
              <a:rPr lang="en-US" sz="2800" dirty="0"/>
              <a:t> </a:t>
            </a:r>
            <a:r>
              <a:rPr lang="en-US" sz="2000" b="1" dirty="0"/>
              <a:t>MD.TAOJIR AHMED PATWARY</a:t>
            </a:r>
          </a:p>
          <a:p>
            <a:pPr algn="ctr"/>
            <a:r>
              <a:rPr lang="en-US" sz="3600" dirty="0"/>
              <a:t> 2304032</a:t>
            </a:r>
          </a:p>
          <a:p>
            <a:endParaRPr lang="en-US" dirty="0"/>
          </a:p>
        </p:txBody>
      </p:sp>
    </p:spTree>
    <p:extLst>
      <p:ext uri="{BB962C8B-B14F-4D97-AF65-F5344CB8AC3E}">
        <p14:creationId xmlns:p14="http://schemas.microsoft.com/office/powerpoint/2010/main" val="3048159383"/>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8205B-3BE7-305F-DBBE-636385862B2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PROJECT SUPERVISOR </a:t>
            </a:r>
            <a:endParaRPr lang="en-US" dirty="0"/>
          </a:p>
        </p:txBody>
      </p:sp>
      <p:sp>
        <p:nvSpPr>
          <p:cNvPr id="4" name="Rounded Rectangle 2">
            <a:extLst>
              <a:ext uri="{FF2B5EF4-FFF2-40B4-BE49-F238E27FC236}">
                <a16:creationId xmlns:a16="http://schemas.microsoft.com/office/drawing/2014/main" id="{78E8F648-96A0-5FDC-0AB0-C9C86C97136A}"/>
              </a:ext>
            </a:extLst>
          </p:cNvPr>
          <p:cNvSpPr/>
          <p:nvPr/>
        </p:nvSpPr>
        <p:spPr>
          <a:xfrm>
            <a:off x="616893" y="2485917"/>
            <a:ext cx="5320920" cy="199348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Dr. </a:t>
            </a:r>
            <a:r>
              <a:rPr lang="en-US" sz="1800" b="1" dirty="0" err="1">
                <a:solidFill>
                  <a:schemeClr val="tx1">
                    <a:lumMod val="95000"/>
                    <a:lumOff val="5000"/>
                  </a:schemeClr>
                </a:solidFill>
                <a:latin typeface="Times New Roman" panose="02020603050405020304" pitchFamily="18" charset="0"/>
                <a:cs typeface="Times New Roman" panose="02020603050405020304" pitchFamily="18" charset="0"/>
              </a:rPr>
              <a:t>Umme</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800" b="1" dirty="0" err="1">
                <a:solidFill>
                  <a:schemeClr val="tx1">
                    <a:lumMod val="95000"/>
                    <a:lumOff val="5000"/>
                  </a:schemeClr>
                </a:solidFill>
                <a:latin typeface="Times New Roman" panose="02020603050405020304" pitchFamily="18" charset="0"/>
                <a:cs typeface="Times New Roman" panose="02020603050405020304" pitchFamily="18" charset="0"/>
              </a:rPr>
              <a:t>Fawzia</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 Rahim</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Assistant Professor</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Department Of Computer Science &amp; Engineering</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 DUET, GAZIPUR</a:t>
            </a:r>
          </a:p>
          <a:p>
            <a:pPr algn="ctr"/>
            <a:endParaRPr lang="en-US" sz="1500" dirty="0">
              <a:solidFill>
                <a:schemeClr val="tx1">
                  <a:lumMod val="95000"/>
                  <a:lumOff val="5000"/>
                </a:schemeClr>
              </a:solidFill>
            </a:endParaRPr>
          </a:p>
          <a:p>
            <a:pPr algn="ctr"/>
            <a:endParaRPr lang="en-US" sz="1500" dirty="0">
              <a:solidFill>
                <a:schemeClr val="tx1">
                  <a:lumMod val="95000"/>
                  <a:lumOff val="5000"/>
                </a:schemeClr>
              </a:solidFill>
            </a:endParaRPr>
          </a:p>
        </p:txBody>
      </p:sp>
      <p:sp>
        <p:nvSpPr>
          <p:cNvPr id="5" name="Rounded Rectangle 3">
            <a:extLst>
              <a:ext uri="{FF2B5EF4-FFF2-40B4-BE49-F238E27FC236}">
                <a16:creationId xmlns:a16="http://schemas.microsoft.com/office/drawing/2014/main" id="{15F63B3A-8741-63C1-0DD1-F8B9CBB453CF}"/>
              </a:ext>
            </a:extLst>
          </p:cNvPr>
          <p:cNvSpPr/>
          <p:nvPr/>
        </p:nvSpPr>
        <p:spPr>
          <a:xfrm>
            <a:off x="5430398" y="2552431"/>
            <a:ext cx="6409910" cy="218369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Dr. Md. </a:t>
            </a:r>
            <a:r>
              <a:rPr lang="en-US" sz="1800" b="1" dirty="0" err="1">
                <a:solidFill>
                  <a:schemeClr val="tx1">
                    <a:lumMod val="95000"/>
                    <a:lumOff val="5000"/>
                  </a:schemeClr>
                </a:solidFill>
                <a:latin typeface="Times New Roman" panose="02020603050405020304" pitchFamily="18" charset="0"/>
                <a:cs typeface="Times New Roman" panose="02020603050405020304" pitchFamily="18" charset="0"/>
              </a:rPr>
              <a:t>Shohidul</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 Islam</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 Professor</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Department Of Computer Science &amp; Engineering</a:t>
            </a:r>
          </a:p>
          <a:p>
            <a:pPr algn="ctr"/>
            <a:r>
              <a:rPr lang="en-US" sz="1500" dirty="0">
                <a:solidFill>
                  <a:schemeClr val="tx1">
                    <a:lumMod val="95000"/>
                    <a:lumOff val="5000"/>
                  </a:schemeClr>
                </a:solidFill>
                <a:latin typeface="Times New Roman" panose="02020603050405020304" pitchFamily="18" charset="0"/>
                <a:cs typeface="Times New Roman" panose="02020603050405020304" pitchFamily="18" charset="0"/>
              </a:rPr>
              <a:t>  DUET,GAZIPUR</a:t>
            </a:r>
          </a:p>
          <a:p>
            <a:pPr algn="ctr"/>
            <a:endParaRPr lang="en-US" sz="1500" dirty="0">
              <a:solidFill>
                <a:schemeClr val="tx1">
                  <a:lumMod val="95000"/>
                  <a:lumOff val="5000"/>
                </a:schemeClr>
              </a:solidFill>
            </a:endParaRPr>
          </a:p>
          <a:p>
            <a:pPr algn="ctr"/>
            <a:r>
              <a:rPr lang="en-US" sz="1500" dirty="0">
                <a:solidFill>
                  <a:schemeClr val="tx1">
                    <a:lumMod val="95000"/>
                    <a:lumOff val="5000"/>
                  </a:schemeClr>
                </a:solidFill>
              </a:rPr>
              <a:t> </a:t>
            </a:r>
          </a:p>
          <a:p>
            <a:pPr algn="ctr"/>
            <a:endParaRPr lang="en-US" sz="1500" dirty="0">
              <a:solidFill>
                <a:schemeClr val="tx1">
                  <a:lumMod val="95000"/>
                  <a:lumOff val="5000"/>
                </a:schemeClr>
              </a:solidFill>
            </a:endParaRPr>
          </a:p>
        </p:txBody>
      </p:sp>
    </p:spTree>
    <p:extLst>
      <p:ext uri="{BB962C8B-B14F-4D97-AF65-F5344CB8AC3E}">
        <p14:creationId xmlns:p14="http://schemas.microsoft.com/office/powerpoint/2010/main" val="406050227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DE461-8A87-702D-A683-33495CE37398}"/>
              </a:ext>
            </a:extLst>
          </p:cNvPr>
          <p:cNvSpPr>
            <a:spLocks noGrp="1"/>
          </p:cNvSpPr>
          <p:nvPr>
            <p:ph type="title"/>
          </p:nvPr>
        </p:nvSpPr>
        <p:spPr/>
        <p:txBody>
          <a:bodyPr/>
          <a:lstStyle/>
          <a:p>
            <a:pPr algn="ctr"/>
            <a:r>
              <a:rPr lang="en-US" b="1" dirty="0"/>
              <a:t>introduction</a:t>
            </a:r>
          </a:p>
        </p:txBody>
      </p:sp>
      <p:sp>
        <p:nvSpPr>
          <p:cNvPr id="3" name="Content Placeholder 2">
            <a:extLst>
              <a:ext uri="{FF2B5EF4-FFF2-40B4-BE49-F238E27FC236}">
                <a16:creationId xmlns:a16="http://schemas.microsoft.com/office/drawing/2014/main" id="{662AA791-59B3-3408-284C-8CE9BBDB7A18}"/>
              </a:ext>
            </a:extLst>
          </p:cNvPr>
          <p:cNvSpPr>
            <a:spLocks noGrp="1"/>
          </p:cNvSpPr>
          <p:nvPr>
            <p:ph idx="1"/>
          </p:nvPr>
        </p:nvSpPr>
        <p:spPr/>
        <p:txBody>
          <a:bodyPr/>
          <a:lstStyle/>
          <a:p>
            <a:r>
              <a:rPr lang="en-US" dirty="0"/>
              <a:t>Automobiles are an essential part of modern life, and every vehicle comes with different features such as price, engine type, horsepower, mileage, fuel type, and safety levels. Understanding these features helps customers, companies, and researchers make better decisions.</a:t>
            </a:r>
          </a:p>
          <a:p>
            <a:r>
              <a:rPr lang="en-US" dirty="0"/>
              <a:t>In this project, we analyze an automobile dataset using Python to understand how different car attributes affect performance and pricing. Data analysis helps identify pattern. For example, which cars are more fuel-efficient, which engines give more power, and how price changes with features like horsepower or number of cylinders.</a:t>
            </a:r>
          </a:p>
          <a:p>
            <a:endParaRPr lang="en-US" dirty="0"/>
          </a:p>
        </p:txBody>
      </p:sp>
    </p:spTree>
    <p:extLst>
      <p:ext uri="{BB962C8B-B14F-4D97-AF65-F5344CB8AC3E}">
        <p14:creationId xmlns:p14="http://schemas.microsoft.com/office/powerpoint/2010/main" val="42171173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55195-CA1E-C0E0-FFFF-AA1218B90FC2}"/>
              </a:ext>
            </a:extLst>
          </p:cNvPr>
          <p:cNvSpPr>
            <a:spLocks noGrp="1"/>
          </p:cNvSpPr>
          <p:nvPr>
            <p:ph type="title"/>
          </p:nvPr>
        </p:nvSpPr>
        <p:spPr/>
        <p:txBody>
          <a:bodyPr/>
          <a:lstStyle/>
          <a:p>
            <a:r>
              <a:rPr lang="en-US" b="1" dirty="0"/>
              <a:t>Real-life applications</a:t>
            </a:r>
            <a:br>
              <a:rPr lang="en-US" b="1" dirty="0"/>
            </a:br>
            <a:endParaRPr lang="en-US" b="1" dirty="0"/>
          </a:p>
        </p:txBody>
      </p:sp>
      <p:sp>
        <p:nvSpPr>
          <p:cNvPr id="3" name="Content Placeholder 2">
            <a:extLst>
              <a:ext uri="{FF2B5EF4-FFF2-40B4-BE49-F238E27FC236}">
                <a16:creationId xmlns:a16="http://schemas.microsoft.com/office/drawing/2014/main" id="{AF6C30C5-7BF4-DC41-4363-B7E4B0D775D5}"/>
              </a:ext>
            </a:extLst>
          </p:cNvPr>
          <p:cNvSpPr>
            <a:spLocks noGrp="1"/>
          </p:cNvSpPr>
          <p:nvPr>
            <p:ph idx="1"/>
          </p:nvPr>
        </p:nvSpPr>
        <p:spPr/>
        <p:txBody>
          <a:bodyPr/>
          <a:lstStyle/>
          <a:p>
            <a:r>
              <a:rPr lang="en-US" sz="2400" dirty="0"/>
              <a:t>Price prediction</a:t>
            </a:r>
          </a:p>
          <a:p>
            <a:r>
              <a:rPr lang="en-US" sz="2400" dirty="0"/>
              <a:t>Performance comparison</a:t>
            </a:r>
          </a:p>
          <a:p>
            <a:r>
              <a:rPr lang="en-US" sz="2400" dirty="0"/>
              <a:t>Fuel efficiency study</a:t>
            </a:r>
          </a:p>
          <a:p>
            <a:r>
              <a:rPr lang="en-US" sz="2400" dirty="0"/>
              <a:t>Market research</a:t>
            </a:r>
          </a:p>
          <a:p>
            <a:endParaRPr lang="en-US" dirty="0"/>
          </a:p>
        </p:txBody>
      </p:sp>
    </p:spTree>
    <p:extLst>
      <p:ext uri="{BB962C8B-B14F-4D97-AF65-F5344CB8AC3E}">
        <p14:creationId xmlns:p14="http://schemas.microsoft.com/office/powerpoint/2010/main" val="265959307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E5875-BA94-F583-78A3-497F362CEF66}"/>
              </a:ext>
            </a:extLst>
          </p:cNvPr>
          <p:cNvSpPr>
            <a:spLocks noGrp="1"/>
          </p:cNvSpPr>
          <p:nvPr>
            <p:ph type="title"/>
          </p:nvPr>
        </p:nvSpPr>
        <p:spPr/>
        <p:txBody>
          <a:bodyPr/>
          <a:lstStyle/>
          <a:p>
            <a:r>
              <a:rPr lang="en-US" dirty="0"/>
              <a:t>PROJECT OBJECTIVES</a:t>
            </a:r>
          </a:p>
        </p:txBody>
      </p:sp>
      <p:sp>
        <p:nvSpPr>
          <p:cNvPr id="4" name="Rectangle 1">
            <a:extLst>
              <a:ext uri="{FF2B5EF4-FFF2-40B4-BE49-F238E27FC236}">
                <a16:creationId xmlns:a16="http://schemas.microsoft.com/office/drawing/2014/main" id="{29185990-043E-9750-7AA4-9D4700F87C6A}"/>
              </a:ext>
            </a:extLst>
          </p:cNvPr>
          <p:cNvSpPr>
            <a:spLocks noGrp="1" noChangeArrowheads="1"/>
          </p:cNvSpPr>
          <p:nvPr>
            <p:ph idx="1"/>
          </p:nvPr>
        </p:nvSpPr>
        <p:spPr bwMode="auto">
          <a:xfrm>
            <a:off x="1451579" y="2217546"/>
            <a:ext cx="1020523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clean and prepare the automobile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analyze key features like price, horsepower, mileage, and engine type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compare different types of cars (fuel, engine, cylinders, drive wheels)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visualize data using graphs and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extract useful insights for understanding car performance and pricing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sz="2400" dirty="0"/>
              <a:t>We want to study the car dataset, clean the data, compare features, make graphs</a:t>
            </a:r>
          </a:p>
          <a:p>
            <a:pPr marL="0" lvl="0" indent="0" eaLnBrk="0" fontAlgn="base" hangingPunct="0">
              <a:lnSpc>
                <a:spcPct val="100000"/>
              </a:lnSpc>
              <a:spcBef>
                <a:spcPct val="0"/>
              </a:spcBef>
              <a:spcAft>
                <a:spcPct val="0"/>
              </a:spcAft>
              <a:buClrTx/>
              <a:buSzTx/>
              <a:buNone/>
            </a:pPr>
            <a:r>
              <a:rPr lang="en-US" sz="2400" dirty="0"/>
              <a:t>, and understand how different features affect a car’s price and performance.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342222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AFDA-1A6A-6BD2-6CC8-62F9517B6719}"/>
              </a:ext>
            </a:extLst>
          </p:cNvPr>
          <p:cNvSpPr>
            <a:spLocks noGrp="1"/>
          </p:cNvSpPr>
          <p:nvPr>
            <p:ph type="title"/>
          </p:nvPr>
        </p:nvSpPr>
        <p:spPr/>
        <p:txBody>
          <a:bodyPr>
            <a:normAutofit/>
          </a:bodyPr>
          <a:lstStyle/>
          <a:p>
            <a:r>
              <a:rPr lang="en-US" sz="5400" b="1" i="1" dirty="0"/>
              <a:t>Tools &amp; Libraries</a:t>
            </a:r>
          </a:p>
        </p:txBody>
      </p:sp>
      <p:sp>
        <p:nvSpPr>
          <p:cNvPr id="4" name="Rectangle 1">
            <a:extLst>
              <a:ext uri="{FF2B5EF4-FFF2-40B4-BE49-F238E27FC236}">
                <a16:creationId xmlns:a16="http://schemas.microsoft.com/office/drawing/2014/main" id="{79E13D32-A5F1-9C81-9794-1F9CC1DC6A72}"/>
              </a:ext>
            </a:extLst>
          </p:cNvPr>
          <p:cNvSpPr>
            <a:spLocks noGrp="1" noChangeArrowheads="1"/>
          </p:cNvSpPr>
          <p:nvPr>
            <p:ph idx="1"/>
          </p:nvPr>
        </p:nvSpPr>
        <p:spPr bwMode="auto">
          <a:xfrm>
            <a:off x="1451579" y="2217546"/>
            <a:ext cx="709200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Pandas (data cleaning, manipulation)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NumPy (math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Matplotlib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VS Code</a:t>
            </a:r>
          </a:p>
        </p:txBody>
      </p:sp>
    </p:spTree>
    <p:extLst>
      <p:ext uri="{BB962C8B-B14F-4D97-AF65-F5344CB8AC3E}">
        <p14:creationId xmlns:p14="http://schemas.microsoft.com/office/powerpoint/2010/main" val="26163988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1E581E-253B-0F9F-E31B-2A8FB10BB3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7951"/>
            <a:ext cx="12192000" cy="6820049"/>
          </a:xfrm>
        </p:spPr>
      </p:pic>
      <p:sp>
        <p:nvSpPr>
          <p:cNvPr id="6" name="TextBox 5">
            <a:extLst>
              <a:ext uri="{FF2B5EF4-FFF2-40B4-BE49-F238E27FC236}">
                <a16:creationId xmlns:a16="http://schemas.microsoft.com/office/drawing/2014/main" id="{4749B45E-A8B2-A1A9-1D9D-478B774FCF35}"/>
              </a:ext>
            </a:extLst>
          </p:cNvPr>
          <p:cNvSpPr txBox="1"/>
          <p:nvPr/>
        </p:nvSpPr>
        <p:spPr>
          <a:xfrm>
            <a:off x="7704667" y="541868"/>
            <a:ext cx="5079999" cy="1200329"/>
          </a:xfrm>
          <a:prstGeom prst="rect">
            <a:avLst/>
          </a:prstGeom>
          <a:noFill/>
        </p:spPr>
        <p:txBody>
          <a:bodyPr wrap="square" rtlCol="0">
            <a:spAutoFit/>
          </a:bodyPr>
          <a:lstStyle/>
          <a:p>
            <a:r>
              <a:rPr lang="en-US" sz="5400" b="1" i="1" dirty="0"/>
              <a:t>Price analysis</a:t>
            </a:r>
            <a:br>
              <a:rPr lang="en-US" dirty="0"/>
            </a:br>
            <a:endParaRPr lang="en-US" dirty="0"/>
          </a:p>
        </p:txBody>
      </p:sp>
    </p:spTree>
    <p:extLst>
      <p:ext uri="{BB962C8B-B14F-4D97-AF65-F5344CB8AC3E}">
        <p14:creationId xmlns:p14="http://schemas.microsoft.com/office/powerpoint/2010/main" val="274539900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824AC6-F492-DA06-BBF9-5ECA909B04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39220"/>
            <a:ext cx="12192000" cy="6897219"/>
          </a:xfrm>
        </p:spPr>
      </p:pic>
    </p:spTree>
    <p:extLst>
      <p:ext uri="{BB962C8B-B14F-4D97-AF65-F5344CB8AC3E}">
        <p14:creationId xmlns:p14="http://schemas.microsoft.com/office/powerpoint/2010/main" val="414217804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757D1-A339-211D-B594-80AD98146637}"/>
              </a:ext>
            </a:extLst>
          </p:cNvPr>
          <p:cNvSpPr>
            <a:spLocks noGrp="1"/>
          </p:cNvSpPr>
          <p:nvPr>
            <p:ph type="title"/>
          </p:nvPr>
        </p:nvSpPr>
        <p:spPr>
          <a:xfrm>
            <a:off x="198512" y="127186"/>
            <a:ext cx="9603275" cy="1049235"/>
          </a:xfrm>
        </p:spPr>
        <p:txBody>
          <a:bodyPr/>
          <a:lstStyle/>
          <a:p>
            <a:r>
              <a:rPr lang="en-US" b="1" u="sng" dirty="0"/>
              <a:t>Fuel Type Analysis</a:t>
            </a:r>
          </a:p>
        </p:txBody>
      </p:sp>
      <p:pic>
        <p:nvPicPr>
          <p:cNvPr id="5" name="Content Placeholder 4">
            <a:extLst>
              <a:ext uri="{FF2B5EF4-FFF2-40B4-BE49-F238E27FC236}">
                <a16:creationId xmlns:a16="http://schemas.microsoft.com/office/drawing/2014/main" id="{CF9F60A7-4168-33A5-CB1F-B7DB82E9BA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643468"/>
            <a:ext cx="12191999" cy="6214532"/>
          </a:xfrm>
        </p:spPr>
      </p:pic>
    </p:spTree>
    <p:extLst>
      <p:ext uri="{BB962C8B-B14F-4D97-AF65-F5344CB8AC3E}">
        <p14:creationId xmlns:p14="http://schemas.microsoft.com/office/powerpoint/2010/main" val="2320451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BBAC-8791-A536-7867-55992356A1CF}"/>
              </a:ext>
            </a:extLst>
          </p:cNvPr>
          <p:cNvSpPr>
            <a:spLocks noGrp="1"/>
          </p:cNvSpPr>
          <p:nvPr>
            <p:ph type="title"/>
          </p:nvPr>
        </p:nvSpPr>
        <p:spPr>
          <a:xfrm>
            <a:off x="84665" y="33866"/>
            <a:ext cx="9603275" cy="1049235"/>
          </a:xfrm>
        </p:spPr>
        <p:txBody>
          <a:bodyPr>
            <a:normAutofit/>
          </a:bodyPr>
          <a:lstStyle/>
          <a:p>
            <a:r>
              <a:rPr lang="en-US" sz="3600" b="1" dirty="0"/>
              <a:t>Engine Type Analysis</a:t>
            </a:r>
          </a:p>
        </p:txBody>
      </p:sp>
      <p:pic>
        <p:nvPicPr>
          <p:cNvPr id="5" name="Content Placeholder 4">
            <a:extLst>
              <a:ext uri="{FF2B5EF4-FFF2-40B4-BE49-F238E27FC236}">
                <a16:creationId xmlns:a16="http://schemas.microsoft.com/office/drawing/2014/main" id="{2F10933A-DDAA-6D34-F8A2-BBE3F20CCC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02490"/>
            <a:ext cx="12192000" cy="6121644"/>
          </a:xfrm>
        </p:spPr>
      </p:pic>
      <p:sp>
        <p:nvSpPr>
          <p:cNvPr id="3" name="Title 4">
            <a:extLst>
              <a:ext uri="{FF2B5EF4-FFF2-40B4-BE49-F238E27FC236}">
                <a16:creationId xmlns:a16="http://schemas.microsoft.com/office/drawing/2014/main" id="{4043DA2A-9725-F979-FF32-63EFF3269C8C}"/>
              </a:ext>
            </a:extLst>
          </p:cNvPr>
          <p:cNvSpPr txBox="1">
            <a:spLocks/>
          </p:cNvSpPr>
          <p:nvPr/>
        </p:nvSpPr>
        <p:spPr>
          <a:xfrm>
            <a:off x="965200" y="7145867"/>
            <a:ext cx="9652001" cy="201971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sz="1600" dirty="0">
                <a:solidFill>
                  <a:srgbClr val="FFFF00"/>
                </a:solidFill>
                <a:latin typeface="Times New Roman" pitchFamily="18" charset="0"/>
                <a:cs typeface="Times New Roman" pitchFamily="18" charset="0"/>
              </a:rPr>
              <a:t>"This scatter-plot shows a strong positive correlation between engine size and price. As the engine size increases, the price of the vehicle also tends to rise significantly. This indicates that engine capacity is a major factor in determining a car's market value."</a:t>
            </a:r>
          </a:p>
        </p:txBody>
      </p:sp>
    </p:spTree>
    <p:extLst>
      <p:ext uri="{BB962C8B-B14F-4D97-AF65-F5344CB8AC3E}">
        <p14:creationId xmlns:p14="http://schemas.microsoft.com/office/powerpoint/2010/main" val="315707931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8F555D-DE96-CA3F-3536-3A99B494B8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98543318"/>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2137B-B7F4-7B23-1EC7-8C8A7DC7851E}"/>
              </a:ext>
            </a:extLst>
          </p:cNvPr>
          <p:cNvSpPr>
            <a:spLocks noGrp="1"/>
          </p:cNvSpPr>
          <p:nvPr>
            <p:ph type="title"/>
          </p:nvPr>
        </p:nvSpPr>
        <p:spPr>
          <a:xfrm>
            <a:off x="0" y="0"/>
            <a:ext cx="9603275" cy="1049235"/>
          </a:xfrm>
        </p:spPr>
        <p:txBody>
          <a:bodyPr>
            <a:normAutofit fontScale="90000"/>
          </a:bodyPr>
          <a:lstStyle/>
          <a:p>
            <a:r>
              <a:rPr lang="en-US" sz="4000" b="1" dirty="0"/>
              <a:t>Cylinder Analysis</a:t>
            </a:r>
            <a:br>
              <a:rPr lang="en-US" b="1" dirty="0"/>
            </a:br>
            <a:endParaRPr lang="en-US" dirty="0"/>
          </a:p>
        </p:txBody>
      </p:sp>
      <p:pic>
        <p:nvPicPr>
          <p:cNvPr id="5" name="Content Placeholder 4">
            <a:extLst>
              <a:ext uri="{FF2B5EF4-FFF2-40B4-BE49-F238E27FC236}">
                <a16:creationId xmlns:a16="http://schemas.microsoft.com/office/drawing/2014/main" id="{4E6BFD9A-7572-EAAE-0FCC-8B7061FF79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32456"/>
            <a:ext cx="12191999" cy="6225543"/>
          </a:xfrm>
        </p:spPr>
      </p:pic>
    </p:spTree>
    <p:extLst>
      <p:ext uri="{BB962C8B-B14F-4D97-AF65-F5344CB8AC3E}">
        <p14:creationId xmlns:p14="http://schemas.microsoft.com/office/powerpoint/2010/main" val="46842289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F4091-9C73-DE2F-E922-0296D85F25DD}"/>
              </a:ext>
            </a:extLst>
          </p:cNvPr>
          <p:cNvSpPr>
            <a:spLocks noGrp="1"/>
          </p:cNvSpPr>
          <p:nvPr>
            <p:ph type="title"/>
          </p:nvPr>
        </p:nvSpPr>
        <p:spPr>
          <a:xfrm>
            <a:off x="0" y="0"/>
            <a:ext cx="9603275" cy="1049235"/>
          </a:xfrm>
        </p:spPr>
        <p:txBody>
          <a:bodyPr>
            <a:normAutofit/>
          </a:bodyPr>
          <a:lstStyle/>
          <a:p>
            <a:r>
              <a:rPr lang="en-US" sz="3600" b="1" dirty="0"/>
              <a:t>Drive Wheels Analysis</a:t>
            </a:r>
          </a:p>
        </p:txBody>
      </p:sp>
      <p:pic>
        <p:nvPicPr>
          <p:cNvPr id="9" name="Content Placeholder 8">
            <a:extLst>
              <a:ext uri="{FF2B5EF4-FFF2-40B4-BE49-F238E27FC236}">
                <a16:creationId xmlns:a16="http://schemas.microsoft.com/office/drawing/2014/main" id="{14FB981A-9020-C3AD-3047-C88C9743D5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609600"/>
            <a:ext cx="12192001" cy="6219063"/>
          </a:xfrm>
        </p:spPr>
      </p:pic>
    </p:spTree>
    <p:extLst>
      <p:ext uri="{BB962C8B-B14F-4D97-AF65-F5344CB8AC3E}">
        <p14:creationId xmlns:p14="http://schemas.microsoft.com/office/powerpoint/2010/main" val="403225392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EF474A-56AF-C1E6-94E4-85B76AC619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4"/>
            <a:ext cx="12192000" cy="6857936"/>
          </a:xfrm>
        </p:spPr>
      </p:pic>
    </p:spTree>
    <p:extLst>
      <p:ext uri="{BB962C8B-B14F-4D97-AF65-F5344CB8AC3E}">
        <p14:creationId xmlns:p14="http://schemas.microsoft.com/office/powerpoint/2010/main" val="1597916340"/>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F343757-F168-DF74-6302-A7788CA25C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428547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6B5B-F306-D4C7-B371-6AC8FFD5F90E}"/>
              </a:ext>
            </a:extLst>
          </p:cNvPr>
          <p:cNvSpPr>
            <a:spLocks noGrp="1"/>
          </p:cNvSpPr>
          <p:nvPr>
            <p:ph type="title"/>
          </p:nvPr>
        </p:nvSpPr>
        <p:spPr>
          <a:xfrm>
            <a:off x="0" y="0"/>
            <a:ext cx="9603275" cy="1049235"/>
          </a:xfrm>
        </p:spPr>
        <p:txBody>
          <a:bodyPr/>
          <a:lstStyle/>
          <a:p>
            <a:r>
              <a:rPr lang="en-US" b="1" dirty="0"/>
              <a:t>Correlation Analysis</a:t>
            </a:r>
          </a:p>
        </p:txBody>
      </p:sp>
      <p:pic>
        <p:nvPicPr>
          <p:cNvPr id="5" name="Content Placeholder 4">
            <a:extLst>
              <a:ext uri="{FF2B5EF4-FFF2-40B4-BE49-F238E27FC236}">
                <a16:creationId xmlns:a16="http://schemas.microsoft.com/office/drawing/2014/main" id="{20C3F1E2-CC00-4850-B110-BD8EE55A73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75734"/>
            <a:ext cx="12192000" cy="6282266"/>
          </a:xfrm>
        </p:spPr>
      </p:pic>
    </p:spTree>
    <p:extLst>
      <p:ext uri="{BB962C8B-B14F-4D97-AF65-F5344CB8AC3E}">
        <p14:creationId xmlns:p14="http://schemas.microsoft.com/office/powerpoint/2010/main" val="41277245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63596B-CFD4-11BB-6269-E2793463E8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872768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3DD0C2-EC1A-7397-AEF5-C23866A589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2" name="Title 2">
            <a:extLst>
              <a:ext uri="{FF2B5EF4-FFF2-40B4-BE49-F238E27FC236}">
                <a16:creationId xmlns:a16="http://schemas.microsoft.com/office/drawing/2014/main" id="{44ACD563-134D-06D2-5183-E97870050E7C}"/>
              </a:ext>
            </a:extLst>
          </p:cNvPr>
          <p:cNvSpPr>
            <a:spLocks noGrp="1"/>
          </p:cNvSpPr>
          <p:nvPr>
            <p:ph type="title"/>
          </p:nvPr>
        </p:nvSpPr>
        <p:spPr>
          <a:xfrm>
            <a:off x="575733" y="7334911"/>
            <a:ext cx="11413067" cy="1114821"/>
          </a:xfrm>
        </p:spPr>
        <p:txBody>
          <a:bodyPr>
            <a:normAutofit/>
          </a:bodyPr>
          <a:lstStyle/>
          <a:p>
            <a:r>
              <a:rPr lang="en-US" sz="1600" dirty="0">
                <a:solidFill>
                  <a:srgbClr val="FFFF00"/>
                </a:solidFill>
                <a:latin typeface="Times New Roman" pitchFamily="18" charset="0"/>
                <a:cs typeface="Times New Roman" pitchFamily="18" charset="0"/>
              </a:rPr>
              <a:t>This chart shows a clear relationship between body-style and price. Premium styles like Hardtops and Convertibles have the highest average prices, while utility styles like Hatchbacks are the most affordable. This proves that a car's design significantly influences its market value."</a:t>
            </a:r>
          </a:p>
        </p:txBody>
      </p:sp>
    </p:spTree>
    <p:extLst>
      <p:ext uri="{BB962C8B-B14F-4D97-AF65-F5344CB8AC3E}">
        <p14:creationId xmlns:p14="http://schemas.microsoft.com/office/powerpoint/2010/main" val="6150323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62011-F72C-2B8B-1276-4BE1B1667CCD}"/>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87E63EFD-F9D9-FA59-2D4D-9029CD7D8C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12563691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DE48F-864D-24C6-34F3-138827B683FA}"/>
              </a:ext>
            </a:extLst>
          </p:cNvPr>
          <p:cNvSpPr>
            <a:spLocks noGrp="1"/>
          </p:cNvSpPr>
          <p:nvPr>
            <p:ph type="title"/>
          </p:nvPr>
        </p:nvSpPr>
        <p:spPr>
          <a:xfrm>
            <a:off x="1294362" y="2074519"/>
            <a:ext cx="9603275" cy="1049235"/>
          </a:xfrm>
        </p:spPr>
        <p:txBody>
          <a:bodyPr>
            <a:normAutofit/>
          </a:bodyPr>
          <a:lstStyle/>
          <a:p>
            <a:pPr algn="ctr"/>
            <a:r>
              <a:rPr lang="en-US" sz="4400" b="1" dirty="0"/>
              <a:t>Key visualization </a:t>
            </a:r>
          </a:p>
        </p:txBody>
      </p:sp>
    </p:spTree>
    <p:extLst>
      <p:ext uri="{BB962C8B-B14F-4D97-AF65-F5344CB8AC3E}">
        <p14:creationId xmlns:p14="http://schemas.microsoft.com/office/powerpoint/2010/main" val="140828291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E48A06-580E-3654-8DBC-434CB09B5D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7999"/>
          </a:xfrm>
        </p:spPr>
      </p:pic>
    </p:spTree>
    <p:extLst>
      <p:ext uri="{BB962C8B-B14F-4D97-AF65-F5344CB8AC3E}">
        <p14:creationId xmlns:p14="http://schemas.microsoft.com/office/powerpoint/2010/main" val="2776169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1536C-CDE0-4E48-96B7-E1BD8743D769}"/>
              </a:ext>
            </a:extLst>
          </p:cNvPr>
          <p:cNvSpPr>
            <a:spLocks noGrp="1"/>
          </p:cNvSpPr>
          <p:nvPr>
            <p:ph type="title"/>
          </p:nvPr>
        </p:nvSpPr>
        <p:spPr>
          <a:xfrm>
            <a:off x="135466" y="798879"/>
            <a:ext cx="9603275" cy="775921"/>
          </a:xfrm>
        </p:spPr>
        <p:txBody>
          <a:bodyPr/>
          <a:lstStyle/>
          <a:p>
            <a:r>
              <a:rPr lang="en-US" dirty="0"/>
              <a:t>Final Findings &amp; Insights</a:t>
            </a:r>
          </a:p>
        </p:txBody>
      </p:sp>
      <p:sp>
        <p:nvSpPr>
          <p:cNvPr id="4" name="Rectangle 1">
            <a:extLst>
              <a:ext uri="{FF2B5EF4-FFF2-40B4-BE49-F238E27FC236}">
                <a16:creationId xmlns:a16="http://schemas.microsoft.com/office/drawing/2014/main" id="{4E5F799A-4BF5-47CA-60E3-11B54E2D6BF5}"/>
              </a:ext>
            </a:extLst>
          </p:cNvPr>
          <p:cNvSpPr>
            <a:spLocks noGrp="1" noChangeArrowheads="1"/>
          </p:cNvSpPr>
          <p:nvPr>
            <p:ph idx="1"/>
          </p:nvPr>
        </p:nvSpPr>
        <p:spPr bwMode="auto">
          <a:xfrm>
            <a:off x="0" y="1848114"/>
            <a:ext cx="121920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Fuel Type:</a:t>
            </a:r>
            <a:r>
              <a:rPr kumimoji="0" lang="en-US" altLang="en-US" sz="2400" b="0" i="0" u="none" strike="noStrike" cap="none" normalizeH="0" baseline="0" dirty="0">
                <a:ln>
                  <a:noFill/>
                </a:ln>
                <a:solidFill>
                  <a:schemeClr val="tx1"/>
                </a:solidFill>
                <a:effectLst/>
                <a:latin typeface="Arial" panose="020B0604020202020204" pitchFamily="34" charset="0"/>
              </a:rPr>
              <a:t> Diesel vehicles are more fuel-efficient but often cost more than gasoline vehicles.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Cylinders:</a:t>
            </a:r>
            <a:r>
              <a:rPr kumimoji="0" lang="en-US" altLang="en-US" sz="2400" b="0" i="0" u="none" strike="noStrike" cap="none" normalizeH="0" baseline="0" dirty="0">
                <a:ln>
                  <a:noFill/>
                </a:ln>
                <a:solidFill>
                  <a:schemeClr val="tx1"/>
                </a:solidFill>
                <a:effectLst/>
                <a:latin typeface="Arial" panose="020B0604020202020204" pitchFamily="34" charset="0"/>
              </a:rPr>
              <a:t> Cars with more cylinders produce more horsepower and are priced higher,</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while smaller engines offer better mileage.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Drive Wheels:</a:t>
            </a:r>
            <a:r>
              <a:rPr kumimoji="0" lang="en-US" altLang="en-US" sz="2400" b="0" i="0" u="none" strike="noStrike" cap="none" normalizeH="0" baseline="0" dirty="0">
                <a:ln>
                  <a:noFill/>
                </a:ln>
                <a:solidFill>
                  <a:schemeClr val="tx1"/>
                </a:solidFill>
                <a:effectLst/>
                <a:latin typeface="Arial" panose="020B0604020202020204" pitchFamily="34" charset="0"/>
              </a:rPr>
              <a:t> Rear-Wheel Drive cars are more performance-oriented and expensive, while Front-Wheel Drive cars are lighter and fuel-efficient.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Price Correlation:</a:t>
            </a:r>
            <a:r>
              <a:rPr kumimoji="0" lang="en-US" altLang="en-US" sz="2400" b="0" i="0" u="none" strike="noStrike" cap="none" normalizeH="0" baseline="0" dirty="0">
                <a:ln>
                  <a:noFill/>
                </a:ln>
                <a:solidFill>
                  <a:schemeClr val="tx1"/>
                </a:solidFill>
                <a:effectLst/>
                <a:latin typeface="Arial" panose="020B0604020202020204" pitchFamily="34" charset="0"/>
              </a:rPr>
              <a:t> Price is strongly correlated with features like horsepower, weight, and engine type. Luxury brands and high-performance cars are more expensive.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Mileage vs Price:</a:t>
            </a:r>
            <a:r>
              <a:rPr kumimoji="0" lang="en-US" altLang="en-US" sz="2400" b="0" i="0" u="none" strike="noStrike" cap="none" normalizeH="0" baseline="0" dirty="0">
                <a:ln>
                  <a:noFill/>
                </a:ln>
                <a:solidFill>
                  <a:schemeClr val="tx1"/>
                </a:solidFill>
                <a:effectLst/>
                <a:latin typeface="Arial" panose="020B0604020202020204" pitchFamily="34" charset="0"/>
              </a:rPr>
              <a:t> Cars with fewer cylinders and better mpg are more economical, while high-performance cars sacrifice fuel efficiency for power.</a:t>
            </a:r>
          </a:p>
        </p:txBody>
      </p:sp>
    </p:spTree>
    <p:extLst>
      <p:ext uri="{BB962C8B-B14F-4D97-AF65-F5344CB8AC3E}">
        <p14:creationId xmlns:p14="http://schemas.microsoft.com/office/powerpoint/2010/main" val="122265886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85CB-C22F-4D80-F3E6-6CB534637EBA}"/>
              </a:ext>
            </a:extLst>
          </p:cNvPr>
          <p:cNvSpPr>
            <a:spLocks noGrp="1"/>
          </p:cNvSpPr>
          <p:nvPr>
            <p:ph type="title"/>
          </p:nvPr>
        </p:nvSpPr>
        <p:spPr>
          <a:xfrm>
            <a:off x="435578" y="864231"/>
            <a:ext cx="9603275" cy="1049235"/>
          </a:xfrm>
        </p:spPr>
        <p:txBody>
          <a:bodyPr>
            <a:normAutofit/>
          </a:bodyPr>
          <a:lstStyle/>
          <a:p>
            <a:r>
              <a:rPr lang="en-US" sz="3600" b="1" dirty="0"/>
              <a:t>Future Work</a:t>
            </a:r>
          </a:p>
        </p:txBody>
      </p:sp>
      <p:sp>
        <p:nvSpPr>
          <p:cNvPr id="3" name="Content Placeholder 2">
            <a:extLst>
              <a:ext uri="{FF2B5EF4-FFF2-40B4-BE49-F238E27FC236}">
                <a16:creationId xmlns:a16="http://schemas.microsoft.com/office/drawing/2014/main" id="{E6C0EF7C-5B59-4AF5-6D70-A337E7B367C0}"/>
              </a:ext>
            </a:extLst>
          </p:cNvPr>
          <p:cNvSpPr>
            <a:spLocks noGrp="1"/>
          </p:cNvSpPr>
          <p:nvPr>
            <p:ph idx="1"/>
          </p:nvPr>
        </p:nvSpPr>
        <p:spPr>
          <a:xfrm>
            <a:off x="215445" y="1913466"/>
            <a:ext cx="11722555" cy="4047067"/>
          </a:xfrm>
        </p:spPr>
        <p:txBody>
          <a:bodyPr/>
          <a:lstStyle/>
          <a:p>
            <a:r>
              <a:rPr lang="en-US" sz="2400" dirty="0"/>
              <a:t>In the future, this project can be expanded in several useful directions.</a:t>
            </a:r>
            <a:br>
              <a:rPr lang="en-US" sz="2400" dirty="0"/>
            </a:br>
            <a:r>
              <a:rPr lang="en-US" sz="2400" dirty="0"/>
              <a:t>We can work with a larger and updated dataset that includes more car models and more detailed features such as safety ratings, resale value, maintenance cost, and customer reviews.</a:t>
            </a:r>
          </a:p>
          <a:p>
            <a:r>
              <a:rPr lang="en-US" sz="2400" dirty="0"/>
              <a:t>Another improvement is performing brand-wise and country-wise comparisons to study how cars differ globally.</a:t>
            </a:r>
          </a:p>
          <a:p>
            <a:r>
              <a:rPr lang="en-US" sz="2400" dirty="0"/>
              <a:t>We can also apply machine learning models to predict car price, mileage, horsepower, or even classify cars based on their features</a:t>
            </a:r>
            <a:r>
              <a:rPr lang="en-US" dirty="0"/>
              <a:t>.</a:t>
            </a:r>
          </a:p>
        </p:txBody>
      </p:sp>
    </p:spTree>
    <p:extLst>
      <p:ext uri="{BB962C8B-B14F-4D97-AF65-F5344CB8AC3E}">
        <p14:creationId xmlns:p14="http://schemas.microsoft.com/office/powerpoint/2010/main" val="1372318058"/>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4470-853A-3548-2C28-165B09FE712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CB9480C-FF15-5ED5-7FD2-D5E2C3E302D6}"/>
              </a:ext>
            </a:extLst>
          </p:cNvPr>
          <p:cNvSpPr>
            <a:spLocks noGrp="1"/>
          </p:cNvSpPr>
          <p:nvPr>
            <p:ph idx="1"/>
          </p:nvPr>
        </p:nvSpPr>
        <p:spPr/>
        <p:txBody>
          <a:bodyPr/>
          <a:lstStyle/>
          <a:p>
            <a:r>
              <a:rPr lang="en-US" dirty="0"/>
              <a:t>In the future, we can add machine learning, use a bigger dataset, make dashboards, and create tools that allow users to compare cars online.</a:t>
            </a:r>
          </a:p>
          <a:p>
            <a:r>
              <a:rPr lang="en-US" dirty="0"/>
              <a:t> Finally, the project can evolve into a web-based car comparison tool, where users can select features and instantly see performance differences.</a:t>
            </a:r>
          </a:p>
          <a:p>
            <a:endParaRPr lang="en-US" dirty="0"/>
          </a:p>
          <a:p>
            <a:pPr marL="0" indent="0" algn="ctr">
              <a:buNone/>
            </a:pPr>
            <a:r>
              <a:rPr lang="en-US" sz="4800" b="1" dirty="0"/>
              <a:t>Thank You</a:t>
            </a:r>
          </a:p>
        </p:txBody>
      </p:sp>
    </p:spTree>
    <p:extLst>
      <p:ext uri="{BB962C8B-B14F-4D97-AF65-F5344CB8AC3E}">
        <p14:creationId xmlns:p14="http://schemas.microsoft.com/office/powerpoint/2010/main" val="4142045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161</TotalTime>
  <Words>678</Words>
  <Application>Microsoft Office PowerPoint</Application>
  <PresentationFormat>Widescreen</PresentationFormat>
  <Paragraphs>71</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Gill Sans MT</vt:lpstr>
      <vt:lpstr>Times New Roman</vt:lpstr>
      <vt:lpstr>Gallery</vt:lpstr>
      <vt:lpstr>Welcome </vt:lpstr>
      <vt:lpstr>PRESENTED BY </vt:lpstr>
      <vt:lpstr>PROJECT SUPERVISOR </vt:lpstr>
      <vt:lpstr>introduction</vt:lpstr>
      <vt:lpstr>Real-life applications </vt:lpstr>
      <vt:lpstr>PROJECT OBJECTIVES</vt:lpstr>
      <vt:lpstr>Tools &amp; Libraries</vt:lpstr>
      <vt:lpstr>PowerPoint Presentation</vt:lpstr>
      <vt:lpstr>PowerPoint Presentation</vt:lpstr>
      <vt:lpstr>Fuel Type Analysis</vt:lpstr>
      <vt:lpstr>Engine Type Analysis</vt:lpstr>
      <vt:lpstr>PowerPoint Presentation</vt:lpstr>
      <vt:lpstr>Cylinder Analysis </vt:lpstr>
      <vt:lpstr>Drive Wheels Analysis</vt:lpstr>
      <vt:lpstr>PowerPoint Presentation</vt:lpstr>
      <vt:lpstr>PowerPoint Presentation</vt:lpstr>
      <vt:lpstr>Correlation Analysis</vt:lpstr>
      <vt:lpstr>PowerPoint Presentation</vt:lpstr>
      <vt:lpstr>This chart shows a clear relationship between body-style and price. Premium styles like Hardtops and Convertibles have the highest average prices, while utility styles like Hatchbacks are the most affordable. This proves that a car's design significantly influences its market value."</vt:lpstr>
      <vt:lpstr>PowerPoint Presentation</vt:lpstr>
      <vt:lpstr>Key visualization </vt:lpstr>
      <vt:lpstr>PowerPoint Presentation</vt:lpstr>
      <vt:lpstr>Final Findings &amp; Insights</vt:lpstr>
      <vt:lpstr>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Taojir Ahmed</dc:creator>
  <cp:lastModifiedBy>Taojir Ahmed</cp:lastModifiedBy>
  <cp:revision>22</cp:revision>
  <dcterms:created xsi:type="dcterms:W3CDTF">2026-02-01T14:14:33Z</dcterms:created>
  <dcterms:modified xsi:type="dcterms:W3CDTF">2026-02-02T09:30:10Z</dcterms:modified>
</cp:coreProperties>
</file>